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914400"/>
            <a:ext cx="3291840" cy="3291840"/>
          </a:xfrm>
          <a:prstGeom prst="ellipse">
            <a:avLst/>
          </a:prstGeom>
          <a:solidFill>
            <a:srgbClr val="26406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TRADING INFRASTRUCTURE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trading desk,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CAD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engineered as software.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specialist analysts — macro, volatility, research, and risk — rebuilt as connected software components, so every decision is prepared with discipline and recorded with a full audit trail.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25400">
            <a:solidFill>
              <a:srgbClr val="E0A5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989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overview  ·  v1.0  ·  July 2026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most systematic strategies quietly fail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are rarely dramatic. They come from four disciplines that are easy to skip and hard to enforce by hand.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615184"/>
            <a:ext cx="841248" cy="841248"/>
          </a:xfrm>
          <a:prstGeom prst="ellipse">
            <a:avLst/>
          </a:prstGeom>
          <a:solidFill>
            <a:srgbClr val="D9645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782" y="2867558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Fooling yourself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1148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enough variations and something looks profitable by pure chance. Backtests flatter; live trading disappoints.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20440" y="22860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13048" y="2615184"/>
            <a:ext cx="841248" cy="841248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422" y="2867558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Ignoring the weather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794760" y="41148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trade behaves differently in calm markets than in a crisis. Most tools treat every day the same.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55080" y="22860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47688" y="2615184"/>
            <a:ext cx="841248" cy="841248"/>
          </a:xfrm>
          <a:prstGeom prst="ellipse">
            <a:avLst/>
          </a:prstGeom>
          <a:solidFill>
            <a:srgbClr val="2FB6A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62" y="2867558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Sizing before risk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629400" y="41148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get sized on conviction, not on what the whole book can survive. One shock reveals the concentration.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189720" y="22860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82328" y="2615184"/>
            <a:ext cx="841248" cy="841248"/>
          </a:xfrm>
          <a:prstGeom prst="ellipse">
            <a:avLst/>
          </a:prstGeom>
          <a:solidFill>
            <a:srgbClr val="26406E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702" y="2867558"/>
            <a:ext cx="336499" cy="3364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memory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464040" y="41148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assumptions, and outcomes live in scattered notes — so the same mistakes repeat and nothing compounds.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6053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64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exists to make each of those four disciplines automatic.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decision runs down a context stack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sized until it has passed through four layers of context — in order. Each layer refuses to run on stale information from the one above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93392"/>
            <a:ext cx="512064" cy="512064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147011"/>
            <a:ext cx="204826" cy="204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99339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5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965960" y="187452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first   </a:t>
            </a:r>
            <a:pPr indent="0" marL="0">
              <a:buNone/>
            </a:pPr>
            <a:r>
              <a:rPr lang="en-US" sz="12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macro environment daily — from calm to crisis.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2743200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2862072"/>
            <a:ext cx="512064" cy="512064"/>
          </a:xfrm>
          <a:prstGeom prst="ellipse">
            <a:avLst/>
          </a:prstGeom>
          <a:solidFill>
            <a:srgbClr val="2FB6A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" y="3015691"/>
            <a:ext cx="204826" cy="204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81328" y="286207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6A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965960" y="274320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second   </a:t>
            </a:r>
            <a:pPr indent="0" marL="0">
              <a:buNone/>
            </a:pPr>
            <a:r>
              <a:rPr lang="en-US" sz="12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the options market is actually pricing.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85800" y="3611880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3730752"/>
            <a:ext cx="512064" cy="512064"/>
          </a:xfrm>
          <a:prstGeom prst="ellipse">
            <a:avLst/>
          </a:prstGeom>
          <a:solidFill>
            <a:srgbClr val="26406E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3884371"/>
            <a:ext cx="204826" cy="204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81328" y="373075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0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965960" y="361188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edges only   </a:t>
            </a:r>
            <a:pPr indent="0" marL="0">
              <a:buNone/>
            </a:pPr>
            <a:r>
              <a:rPr lang="en-US" sz="12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must survive a gauntlet before it can trade.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685800" y="4480560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599432"/>
            <a:ext cx="512064" cy="512064"/>
          </a:xfrm>
          <a:prstGeom prst="ellipse">
            <a:avLst/>
          </a:prstGeom>
          <a:solidFill>
            <a:srgbClr val="D9645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" y="4753051"/>
            <a:ext cx="204826" cy="204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81328" y="459943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4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1965960" y="448056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size   </a:t>
            </a:r>
            <a:pPr indent="0" marL="0">
              <a:buNone/>
            </a:pPr>
            <a:r>
              <a:rPr lang="en-US" sz="12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approved edge into a position the book can survive.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685800" y="5349240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41248" y="5468112"/>
            <a:ext cx="512064" cy="512064"/>
          </a:xfrm>
          <a:prstGeom prst="ellipse">
            <a:avLst/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5621731"/>
            <a:ext cx="204826" cy="2048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81328" y="546811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1965960" y="534924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journaled   </a:t>
            </a:r>
            <a:pPr indent="0" marL="0">
              <a:buNone/>
            </a:pPr>
            <a:r>
              <a:rPr lang="en-US" sz="12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Trades, theses, and outcomes recorded to close the loop.</a:t>
            </a:r>
            <a:endParaRPr lang="en-US" sz="1550" dirty="0"/>
          </a:p>
        </p:txBody>
      </p:sp>
      <p:sp>
        <p:nvSpPr>
          <p:cNvPr id="30" name="Shape 23"/>
          <p:cNvSpPr/>
          <p:nvPr/>
        </p:nvSpPr>
        <p:spPr>
          <a:xfrm>
            <a:off x="7955280" y="1874520"/>
            <a:ext cx="3520440" cy="4251960"/>
          </a:xfrm>
          <a:prstGeom prst="roundRect">
            <a:avLst>
              <a:gd name="adj" fmla="val 2597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principle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22960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machine prepares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CAD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decision.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makes it.</a:t>
            </a:r>
            <a:endParaRPr lang="en-US" sz="2300" dirty="0"/>
          </a:p>
        </p:txBody>
      </p:sp>
      <p:sp>
        <p:nvSpPr>
          <p:cNvPr id="33" name="Text 26"/>
          <p:cNvSpPr/>
          <p:nvPr/>
        </p:nvSpPr>
        <p:spPr>
          <a:xfrm>
            <a:off x="8229600" y="45262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Thesis, sizing, and execution are deliberate human control points. The system computes, warns, and records — it never trades on its own.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boutique desk, staffed by software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analyst is a component with one job, defined inputs and outputs, and a fixed contract with the analysts downstream.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3566160" cy="1810512"/>
          </a:xfrm>
          <a:prstGeom prst="roundRect">
            <a:avLst>
              <a:gd name="adj" fmla="val 4040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606040"/>
            <a:ext cx="749808" cy="749808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2830982"/>
            <a:ext cx="299923" cy="2999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9656" y="2606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Marcus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19656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STRATEGIST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" y="34472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macro environment every evening and sets the context everything else runs 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07992" y="2331720"/>
            <a:ext cx="3566160" cy="1810512"/>
          </a:xfrm>
          <a:prstGeom prst="roundRect">
            <a:avLst>
              <a:gd name="adj" fmla="val 4040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4024" y="2606040"/>
            <a:ext cx="749808" cy="749808"/>
          </a:xfrm>
          <a:prstGeom prst="ellipse">
            <a:avLst/>
          </a:prstGeom>
          <a:solidFill>
            <a:srgbClr val="2FB6A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2830982"/>
            <a:ext cx="299923" cy="29992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41848" y="2606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Sarah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641848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B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DESK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82312" y="34472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options pricing per ticker — levels, term structure, skew — and builds pre-trade views.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30184" y="2331720"/>
            <a:ext cx="3566160" cy="1810512"/>
          </a:xfrm>
          <a:prstGeom prst="roundRect">
            <a:avLst>
              <a:gd name="adj" fmla="val 4040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86216" y="2606040"/>
            <a:ext cx="749808" cy="749808"/>
          </a:xfrm>
          <a:prstGeom prst="ellipse">
            <a:avLst/>
          </a:prstGeom>
          <a:solidFill>
            <a:srgbClr val="CAD8F0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158" y="2830982"/>
            <a:ext cx="299923" cy="29992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64040" y="2606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Priya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464040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RESEARCHER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604504" y="34472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gauntlet that kills weak strategies before they ever reach capital.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5800" y="4343400"/>
            <a:ext cx="3566160" cy="1810512"/>
          </a:xfrm>
          <a:prstGeom prst="roundRect">
            <a:avLst>
              <a:gd name="adj" fmla="val 4040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1832" y="4617720"/>
            <a:ext cx="749808" cy="749808"/>
          </a:xfrm>
          <a:prstGeom prst="ellipse">
            <a:avLst/>
          </a:prstGeom>
          <a:solidFill>
            <a:srgbClr val="D9645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" y="4842662"/>
            <a:ext cx="299923" cy="29992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19656" y="4617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Jordan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819656" y="5020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60120" y="54589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live book, enforces limits, stress-tests it, and turns approvals into sizes.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07992" y="4343400"/>
            <a:ext cx="3566160" cy="1810512"/>
          </a:xfrm>
          <a:prstGeom prst="roundRect">
            <a:avLst>
              <a:gd name="adj" fmla="val 4040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64024" y="4617720"/>
            <a:ext cx="749808" cy="749808"/>
          </a:xfrm>
          <a:prstGeom prst="ellipse">
            <a:avLst/>
          </a:prstGeom>
          <a:solidFill>
            <a:srgbClr val="9AB0D8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4842662"/>
            <a:ext cx="299923" cy="29992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41848" y="4617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Alex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5641848" y="5020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OF STAFF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782312" y="54589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pipelines on schedule and compresses the week into a review.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330184" y="4343400"/>
            <a:ext cx="3566160" cy="1810512"/>
          </a:xfrm>
          <a:prstGeom prst="roundRect">
            <a:avLst>
              <a:gd name="adj" fmla="val 4040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586216" y="4617720"/>
            <a:ext cx="749808" cy="749808"/>
          </a:xfrm>
          <a:prstGeom prst="ellipse">
            <a:avLst/>
          </a:prstGeom>
          <a:solidFill>
            <a:srgbClr val="5B6E92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158" y="4842662"/>
            <a:ext cx="299923" cy="29992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464040" y="4617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Kai</a:t>
            </a:r>
            <a:endParaRPr lang="en-US" sz="2000" dirty="0"/>
          </a:p>
        </p:txBody>
      </p:sp>
      <p:sp>
        <p:nvSpPr>
          <p:cNvPr id="39" name="Text 31"/>
          <p:cNvSpPr/>
          <p:nvPr/>
        </p:nvSpPr>
        <p:spPr>
          <a:xfrm>
            <a:off x="9464040" y="5020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 ·  NEXT PHASE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604504" y="54589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connectivity and trade-cost analysis. Today, execution is done by hand and journaled.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Reading the weather, then the water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2011680"/>
            <a:ext cx="841248" cy="841248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70" y="2264054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84248" y="212140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Marcus — the macro regime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14984" y="301752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evening, twenty macro indicators are scored into a single read on the environment — calm, neutral, stress, or crisis — with a confidence level and an early warning when the picture starts cracking.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14984" y="45720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5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Daily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14984" y="513892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market-regime read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87752" y="45720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5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587752" y="513892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signal families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60520" y="45720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5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~30d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160520" y="513892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change-probability estimate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0936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20256" y="2011680"/>
            <a:ext cx="841248" cy="841248"/>
          </a:xfrm>
          <a:prstGeom prst="ellipse">
            <a:avLst/>
          </a:prstGeom>
          <a:solidFill>
            <a:srgbClr val="2FB6A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630" y="2264054"/>
            <a:ext cx="336499" cy="3364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07808" y="212140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Sarah — the volatility desk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6638544" y="301752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morning, per ticker, she measures what the options market is pricing: implied vs. realized volatility, the shape of the term structure, and skew — plus scenario and greeks tools to inspect a trade before entry.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638544" y="45720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6A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5+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638544" y="513892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 priced daily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211312" y="45720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6A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211312" y="513892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sensitivities / position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784080" y="45720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6A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9784080" y="513892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stress scenarios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8580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64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refuse to run on a stale regime — no trade is analyzed against yesterday's weather.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research engine built to kill bad ideas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built to find strategies. Priya is built to disprove them — a strategy only earns approval after surviving thirteen checkpoints designed to expose luck, overfitting, and hidden costs.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6903720" cy="768096"/>
          </a:xfrm>
          <a:prstGeom prst="roundRect">
            <a:avLst>
              <a:gd name="adj" fmla="val 8333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9169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697480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is written down before any data is touched — no rewriting history.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3593592"/>
            <a:ext cx="6903720" cy="768096"/>
          </a:xfrm>
          <a:prstGeom prst="roundRect">
            <a:avLst>
              <a:gd name="adj" fmla="val 8333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8130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593592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Leak-proof testing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that blocks the future from leaking into the past.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85800" y="4489704"/>
            <a:ext cx="6903720" cy="768096"/>
          </a:xfrm>
          <a:prstGeom prst="roundRect">
            <a:avLst>
              <a:gd name="adj" fmla="val 8333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70916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489704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correction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variation tried is counted and penalized, so chance can't masquerade as skill.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85800" y="5385816"/>
            <a:ext cx="6903720" cy="768096"/>
          </a:xfrm>
          <a:prstGeom prst="roundRect">
            <a:avLst>
              <a:gd name="adj" fmla="val 8333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605272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5385816"/>
            <a:ext cx="6126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costs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frictions and a deliberate haircut applied before anything is called viable.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7973568" y="26974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8247888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to clear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247888" y="338328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5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9601200" y="33832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passed, in order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8247888" y="429768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B6A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50%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9601200" y="4297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haircut on measured edge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247888" y="521208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&lt;5%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9601200" y="52120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tolerated chance of overfitting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8580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ideas are archived too — the system remembers what did not work.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Nothing is sized until the book can survive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is the only path from an approved strategy to a live position — and re-checks that the approval is still fresh and fits today's regime before sizing anything.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395728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749808" cy="749808"/>
          </a:xfrm>
          <a:prstGeom prst="ellipse">
            <a:avLst/>
          </a:prstGeom>
          <a:solidFill>
            <a:srgbClr val="26406E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062" y="2876702"/>
            <a:ext cx="299923" cy="2999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2044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Knows the real book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60120" y="40416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positions are read directly from the trade journal — the record is the book, always in sync.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02152" y="2395728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76472" y="2651760"/>
            <a:ext cx="749808" cy="749808"/>
          </a:xfrm>
          <a:prstGeom prst="ellipse">
            <a:avLst/>
          </a:prstGeom>
          <a:solidFill>
            <a:srgbClr val="2FB6A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414" y="2876702"/>
            <a:ext cx="299923" cy="2999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76472" y="352044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Prices the whole risk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76472" y="40416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exposure across every position and flags concentration the eye would miss.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18504" y="2395728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92824" y="2651760"/>
            <a:ext cx="749808" cy="749808"/>
          </a:xfrm>
          <a:prstGeom prst="ellipse">
            <a:avLst/>
          </a:prstGeom>
          <a:solidFill>
            <a:srgbClr val="D9645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66" y="2876702"/>
            <a:ext cx="299923" cy="29992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92824" y="352044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Enforces limits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592824" y="40416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and per-position caps are hard limits; a breach raises a red banner.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2395728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09176" y="2651760"/>
            <a:ext cx="749808" cy="749808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118" y="2876702"/>
            <a:ext cx="299923" cy="29992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9176" y="352044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Stress-tests the book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409176" y="40416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entire book through the historical shock library and reports the worst case.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85800" y="5029200"/>
            <a:ext cx="10835640" cy="1051560"/>
          </a:xfrm>
          <a:prstGeom prst="roundRect">
            <a:avLst>
              <a:gd name="adj" fmla="val 7826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60120" y="523036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2286000" y="502920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</a:t>
            </a:r>
            <a:pPr indent="0" marL="0">
              <a:buNone/>
            </a:pPr>
            <a:r>
              <a:rPr lang="en-US" sz="150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 </a:t>
            </a:r>
            <a:pPr indent="0" marL="0">
              <a:buNone/>
            </a:pPr>
            <a:r>
              <a:rPr lang="en-US" sz="150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  </a:t>
            </a:r>
            <a:pPr indent="0" marL="0">
              <a:buNone/>
            </a:pPr>
            <a:r>
              <a:rPr lang="en-US" sz="150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the fill  </a:t>
            </a:r>
            <a:pPr indent="0" marL="0">
              <a:buNone/>
            </a:pPr>
            <a:r>
              <a:rPr lang="en-US" sz="150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CA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stress now include it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Institutional discipline, by 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analysts sits one governed platform — a single workstation where every assumption is inspectable, versioned, and stamped onto the runs that used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4290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770632"/>
            <a:ext cx="658368" cy="658368"/>
          </a:xfrm>
          <a:prstGeom prst="ellipse">
            <a:avLst/>
          </a:prstGeom>
          <a:solidFill>
            <a:srgbClr val="26406E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" y="296814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28216" y="273405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assumption is a control, not code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348386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Thresholds, weights, and limits live in one registry, edited on screen — never buried in code.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514600"/>
            <a:ext cx="34290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770632"/>
            <a:ext cx="658368" cy="658368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2968142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273405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change is versioned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0" y="348386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create a new version; the old one is never overwritten. Roll back to any prior state.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5800" y="4297680"/>
            <a:ext cx="34290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" y="4553712"/>
            <a:ext cx="658368" cy="658368"/>
          </a:xfrm>
          <a:prstGeom prst="ellipse">
            <a:avLst/>
          </a:prstGeom>
          <a:solidFill>
            <a:srgbClr val="2FB6A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" y="4751222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28216" y="451713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run is reproducible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60120" y="526694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stamped with the exact assumptions behind it — any past result can be reproduced.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297680" y="4297680"/>
            <a:ext cx="34290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53712" y="4553712"/>
            <a:ext cx="658368" cy="658368"/>
          </a:xfrm>
          <a:prstGeom prst="ellipse">
            <a:avLst/>
          </a:prstGeom>
          <a:solidFill>
            <a:srgbClr val="D9645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222" y="4751222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0096" y="451713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workstation over one service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572000" y="526694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interface replaces scattered scripts, with safeguards so a busy database never crashes a run.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973568" y="2514600"/>
            <a:ext cx="3520440" cy="3639312"/>
          </a:xfrm>
          <a:prstGeom prst="roundRect">
            <a:avLst>
              <a:gd name="adj" fmla="val 2597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47888" y="2788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you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47888" y="320040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number on the screen can be traced to who set it, when, and why.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8247888" y="49377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between a black box and infrastructure you can audit, defend, and trust with capital.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in the open, on an honest ledger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deliberately transparent about its own maturity. Nothing here is oversold.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514600"/>
            <a:ext cx="640080" cy="640080"/>
          </a:xfrm>
          <a:prstGeom prst="ellipse">
            <a:avLst/>
          </a:prstGeom>
          <a:solidFill>
            <a:srgbClr val="2FB6A3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7066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46504" y="254203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&amp; proven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3375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regime engine, in production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&amp; pre-trade toolkit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gauntlet (13 checkpoints)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sizing, limits &amp; stress logic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5112" y="224028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514600"/>
            <a:ext cx="640080" cy="640080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7066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254203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Built, hardening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33375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workstation interface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parameter registry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runner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64424" y="224028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57032" y="2514600"/>
            <a:ext cx="640080" cy="640080"/>
          </a:xfrm>
          <a:prstGeom prst="ellipse">
            <a:avLst/>
          </a:prstGeom>
          <a:solidFill>
            <a:srgbClr val="5B6E92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7066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25128" y="254203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 the roadmap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75320" y="33375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broker execution &amp; cost analysis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review &amp; alerting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4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live capital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85800" y="61996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64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Live-capital deployment is explicitly gated behind further data validation — a discipline, not a limitation.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4754880"/>
            <a:ext cx="3291840" cy="3291840"/>
          </a:xfrm>
          <a:prstGeom prst="ellipse">
            <a:avLst/>
          </a:prstGeom>
          <a:solidFill>
            <a:srgbClr val="26406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Discipline that scales, and a trail you can defend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3191256"/>
            <a:ext cx="676656" cy="676656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3394253"/>
            <a:ext cx="270662" cy="270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3063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 to fool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3429000"/>
            <a:ext cx="4041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survives a gauntlet before capital — luck and overfitting are penalized, not celebrated.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6263640" y="28803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3191256"/>
            <a:ext cx="676656" cy="676656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69" y="3394253"/>
            <a:ext cx="270662" cy="270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3063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Context-aware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60920" y="3429000"/>
            <a:ext cx="4041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and volatility gate every decision, so a trade is judged against today's market, not an average one.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731520" y="434340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87552" y="4654296"/>
            <a:ext cx="676656" cy="676656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49" y="4857293"/>
            <a:ext cx="270662" cy="270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526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Fully auditable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4892040"/>
            <a:ext cx="4041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assumption is versioned and every run reproducible — the opposite of a black box.</a:t>
            </a:r>
            <a:endParaRPr lang="en-US" sz="1180" dirty="0"/>
          </a:p>
        </p:txBody>
      </p:sp>
      <p:sp>
        <p:nvSpPr>
          <p:cNvPr id="21" name="Shape 16"/>
          <p:cNvSpPr/>
          <p:nvPr/>
        </p:nvSpPr>
        <p:spPr>
          <a:xfrm>
            <a:off x="6263640" y="434340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6294A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9672" y="4654296"/>
            <a:ext cx="676656" cy="676656"/>
          </a:xfrm>
          <a:prstGeom prst="ellipse">
            <a:avLst/>
          </a:prstGeom>
          <a:solidFill>
            <a:srgbClr val="E0A54B"/>
          </a:solidFill>
          <a:ln/>
          <a:effectLst>
            <a:outerShdw sx="100000" sy="100000" kx="0" ky="0" algn="bl" rotWithShape="0" blurRad="114300" dist="38100" dir="5400000">
              <a:srgbClr val="0E1B33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69" y="4857293"/>
            <a:ext cx="270662" cy="270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4526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Human-in-command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60920" y="4892040"/>
            <a:ext cx="4041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prepares and records; a person decides. Automation without loss of control.</a:t>
            </a:r>
            <a:endParaRPr lang="en-US" sz="1180" dirty="0"/>
          </a:p>
        </p:txBody>
      </p:sp>
      <p:sp>
        <p:nvSpPr>
          <p:cNvPr id="26" name="Text 20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trading desk, engineered as software — disciplined, transparent, and built to earn trust with capital.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Systematic Trading Infrastructure</dc:title>
  <dc:subject>PptxGenJS Presentation</dc:subject>
  <dc:creator>Trading Infrastructure</dc:creator>
  <cp:lastModifiedBy>Trading Infrastructure</cp:lastModifiedBy>
  <cp:revision>1</cp:revision>
  <dcterms:created xsi:type="dcterms:W3CDTF">2026-07-06T20:32:29Z</dcterms:created>
  <dcterms:modified xsi:type="dcterms:W3CDTF">2026-07-06T20:32:29Z</dcterms:modified>
</cp:coreProperties>
</file>